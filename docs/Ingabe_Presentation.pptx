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Ingabe by NozaLabs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Ingabe: AI-Powered GIS</a:t>
            </a:r>
            <a:br/>
            <a:r>
              <a:t>for African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A3E635"/>
                </a:solidFill>
                <a:latin typeface="Calibri"/>
              </a:defRPr>
            </a:pPr>
            <a:r>
              <a:t>Satellite Imagery  |  Soil Analytics  |  Crop Forecasting  |  Climate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gis.nozalabs.rw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CCCCC"/>
                </a:solidFill>
                <a:latin typeface="Calibri"/>
              </a:defRPr>
            </a:pPr>
            <a:r>
              <a:t>Empowering farmers, agronomists, and organizations across Rwanda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Rwanda needs to increase production</a:t>
            </a:r>
            <a:br/>
            <a:r>
              <a:t>and decrease 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A3E635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of Rwanda's workforce</a:t>
            </a:r>
            <a:br/>
            <a:r>
              <a:t>is in agriculture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A3E635"/>
                </a:solidFill>
                <a:latin typeface="Calibri"/>
              </a:defRPr>
            </a:pPr>
            <a:r>
              <a:t>0.6 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Average farm size</a:t>
            </a:r>
            <a:br/>
            <a:r>
              <a:t>— among smallest globally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E8D74D"/>
                </a:solidFill>
                <a:latin typeface="Calibri"/>
              </a:defRPr>
            </a:pPr>
            <a:r>
              <a:t>33%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of children under 5</a:t>
            </a:r>
            <a:br/>
            <a:r>
              <a:t>are stunted from malnutrition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7432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E8D74D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of farmers lack access</a:t>
            </a:r>
            <a:br/>
            <a:r>
              <a:t>to modern agri-data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When geospatial data reaches every farmer, we unlock food security</a:t>
            </a:r>
            <a:br/>
            <a:r>
              <a:t>and sustainability across East Africa.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Data-driven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Precision agriculture powered by satellite and AI has been shown to: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286000"/>
            <a:ext cx="822960" cy="82296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Improve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88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Up to 20% yield increase through</a:t>
            </a:r>
            <a:br/>
            <a:r>
              <a:t>timely interventions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657600"/>
            <a:ext cx="822960" cy="82296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Reduce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160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30% reduction in wasted inputs</a:t>
            </a:r>
            <a:br/>
            <a:r>
              <a:t>with targeted application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5029200"/>
            <a:ext cx="822960" cy="82296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Ensure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532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CCCC"/>
                </a:solidFill>
                <a:latin typeface="Calibri"/>
              </a:defRPr>
            </a:pPr>
            <a:r>
              <a:t>Monitor and reduce GHG emissions</a:t>
            </a:r>
            <a:br/>
            <a:r>
              <a:t>from agricultural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A3E635"/>
                </a:solidFill>
                <a:latin typeface="Calibri"/>
              </a:defRPr>
            </a:pPr>
            <a:r>
              <a:t>Ingabe brings these capabilities to every farmer in Rwanda — no hardware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FFFFFF"/>
                </a:solidFill>
                <a:latin typeface="Calibri"/>
              </a:defRPr>
            </a:pPr>
            <a:r>
              <a:t>Across Rwanda, the high cost of manual</a:t>
            </a:r>
            <a:br/>
            <a:r>
              <a:t>data collection prevents smallholder</a:t>
            </a:r>
            <a:br/>
            <a:r>
              <a:t>farmers from using precision agriculture.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Ingabe solves this by using free satellite data (Sentinel-2),</a:t>
            </a:r>
            <a:br/>
            <a:r>
              <a:t>open soil datasets (iSDAsoil), and AI — all accessible</a:t>
            </a:r>
            <a:br/>
            <a:r>
              <a:t>from a web browser with no sensors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Ingabe: Web-Based GIS for Agriculture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CCCCC"/>
                </a:solidFill>
                <a:latin typeface="Calibri"/>
              </a:defRPr>
            </a:pPr>
            <a:r>
              <a:t>A complete geospatial platform accessible from any browser — no installation, no sensors, no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Satellite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Real-time Sentinel-2 indices:</a:t>
            </a:r>
            <a:br/>
            <a:r>
              <a:t>NDVI, EVI, NDWI, SAVI, NDRE, NDBI</a:t>
            </a:r>
            <a:br/>
            <a:r>
              <a:t>at 10m resolution, updated every 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Soil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21 soil properties from iSDAsoil</a:t>
            </a:r>
            <a:br/>
            <a:r>
              <a:t>at 30m resolution across Africa:</a:t>
            </a:r>
            <a:br/>
            <a:r>
              <a:t>pH, nitrogen, phosphorus, organic carbon...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Weather &amp; Climate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60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Daily temperature, rainfall, solar radiation</a:t>
            </a:r>
            <a:br/>
            <a:r>
              <a:t>from Copernicus AgERA5 at 11km</a:t>
            </a:r>
            <a:br/>
            <a:r>
              <a:t>+ real-time Open-Meteo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Yield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DSSAT crop simulation model</a:t>
            </a:r>
            <a:br/>
            <a:r>
              <a:t>with Sentinel-2 data assimilation</a:t>
            </a:r>
            <a:br/>
            <a:r>
              <a:t>for maize, rice, beans, sorghum, wheat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0624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Emissions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EDGAR v8.0 greenhouse gas data:</a:t>
            </a:r>
            <a:br/>
            <a:r>
              <a:t>CH4, N2O, CO2, NH3</a:t>
            </a:r>
            <a:br/>
            <a:r>
              <a:t>by agriculture sector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0624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Land 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ESRI 10m annual classification:</a:t>
            </a:r>
            <a:br/>
            <a:r>
              <a:t>cropland, forest, built area, rangeland</a:t>
            </a:r>
            <a:br/>
            <a:r>
              <a:t>with automatic zonal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Sage: Your AI-Powered GIS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3E635"/>
                </a:solidFill>
                <a:latin typeface="Calibri"/>
              </a:defRPr>
            </a:pPr>
            <a:r>
              <a:t>Ask questions in plain language — Sage executes 50+ geospatial tools automatically.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"Show me NDVI for Gasabo district"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57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calls Sentinel Hub, retrieves</a:t>
            </a:r>
            <a:br/>
            <a:r>
              <a:t>vegetation indices, displays results on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"What is the soil pH here?"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057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queries iSDAsoil at 30m</a:t>
            </a:r>
            <a:br/>
            <a:r>
              <a:t>resolution, returns full nutrient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"Create a 5km buffer and</a:t>
            </a:r>
            <a:br/>
            <a:r>
              <a:t>find cropland"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runs buffer geoprocessing,</a:t>
            </a:r>
            <a:br/>
            <a:r>
              <a:t>adds land cover layer, calculates statistics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7472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"Show crop stress alerts"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5204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analyzes NDVI anomalies,</a:t>
            </a:r>
            <a:br/>
            <a:r>
              <a:t>identifies high-risk districts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"Forecast maize yield</a:t>
            </a:r>
            <a:br/>
            <a:r>
              <a:t>for this field"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83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runs DSSAT model with</a:t>
            </a:r>
            <a:br/>
            <a:r>
              <a:t>soil + weather + satellite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37760"/>
            <a:ext cx="2560320" cy="8229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3E635"/>
                </a:solidFill>
              </a:defRPr>
            </a:pPr>
            <a:r>
              <a:t>"Show methane emissions</a:t>
            </a:r>
            <a:br/>
            <a:r>
              <a:t>from agriculture"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A3E635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983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Sage retrieves EDGAR v8.0 data,</a:t>
            </a:r>
            <a:br/>
            <a:r>
              <a:t>colors districts by emission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Ingabe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64592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Sentinel-2</a:t>
            </a:r>
            <a:br/>
            <a:r>
              <a:t>(10m imagery)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242316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iSDAsoil</a:t>
            </a:r>
            <a:br/>
            <a:r>
              <a:t>(30m soil)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320040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Copernicus AgERA5</a:t>
            </a:r>
            <a:br/>
            <a:r>
              <a:t>(weather)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3977639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EDGAR v8.0</a:t>
            </a:r>
            <a:br/>
            <a:r>
              <a:t>(emissions)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47548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ESRI LULC</a:t>
            </a:r>
            <a:br/>
            <a:r>
              <a:t>(land cover)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553212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NASA POWER</a:t>
            </a:r>
            <a:br/>
            <a:r>
              <a:t>(climate)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AI &amp;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645920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Sentinel Hub API</a:t>
            </a:r>
            <a:br/>
            <a:r>
              <a:t>(vegetation indices)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423160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DSSAT Crop Model</a:t>
            </a:r>
            <a:br/>
            <a:r>
              <a:t>(yield forecasting)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200400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QGIS Processing</a:t>
            </a:r>
            <a:br/>
            <a:r>
              <a:t>(35+ algorithms)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977639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OpenAI LLM</a:t>
            </a:r>
            <a:br/>
            <a:r>
              <a:t>(Sage AI assistant)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754880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ML Models</a:t>
            </a:r>
            <a:br/>
            <a:r>
              <a:t>(anomaly detection)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5532120"/>
            <a:ext cx="2743200" cy="64008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PostGIS</a:t>
            </a:r>
            <a:br/>
            <a:r>
              <a:t>(spatial database)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USER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645920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Interactive Maps</a:t>
            </a:r>
            <a:br/>
            <a:r>
              <a:t>(MapLibre GL)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423160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Choropleth Analysis</a:t>
            </a:r>
            <a:br/>
            <a:r>
              <a:t>(color by value)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200400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Rwanda Dashboard</a:t>
            </a:r>
            <a:br/>
            <a:r>
              <a:t>(H3 hexagons)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77639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Crop Health Alerts</a:t>
            </a:r>
            <a:br/>
            <a:r>
              <a:t>(anomaly detection)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754880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Yield Risk Assessment</a:t>
            </a:r>
            <a:br/>
            <a:r>
              <a:t>(district-level)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532120"/>
            <a:ext cx="2743200" cy="64008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Share &amp; Embed</a:t>
            </a:r>
            <a:br/>
            <a:r>
              <a:t>(collaboration)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560320" y="192024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760720" y="192024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560320" y="347472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760720" y="347472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2560320" y="502920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5760720" y="502920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1645920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Farmers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423160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Agronomists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3200400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NGOs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977639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Government</a:t>
            </a:r>
            <a:br/>
            <a:r>
              <a:t>Agencies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4754880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Researchers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5532120"/>
            <a:ext cx="2377440" cy="640080"/>
          </a:xfrm>
          <a:prstGeom prst="round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Extension</a:t>
            </a:r>
            <a:br/>
            <a:r>
              <a:t>Workers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961120" y="192024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8961120" y="347472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8961120" y="5029200"/>
            <a:ext cx="365760" cy="22860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Satellite-Powered Crop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Sentinel-2 provides free 10m imagery every 5 days — Ingabe computes 6 vegetation indices automatically.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NDVI — Vegetation Health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645920" cy="54864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&lt; 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Water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103120"/>
            <a:ext cx="1645920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0.0-0.2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Bare Soil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1645920" cy="54864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0.2-0.4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Sparse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1645920" cy="548640"/>
          </a:xfrm>
          <a:prstGeom prst="rect">
            <a:avLst/>
          </a:prstGeom>
          <a:solidFill>
            <a:srgbClr val="E8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0.4-0.6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164592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0.6-0.8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2103120"/>
            <a:ext cx="16459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&gt; 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Very 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Six Vegetation Indices Computed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7315200" cy="41148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493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What It Measures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930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Healthy 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13632"/>
            <a:ext cx="7315200" cy="38404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NDVI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Overall vegetation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0.4 - 0.8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15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EVI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315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Dense canopy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0.3 - 0.7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681728"/>
            <a:ext cx="7315200" cy="38404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700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NDWI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700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Water / moisture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&gt; 0.0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0840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SAVI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0840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Vegetation on bare soil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0840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0.3 - 0.7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449824"/>
            <a:ext cx="7315200" cy="384048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NDRE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468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Nitrogen / chlorophyll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&gt; 0.2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NDBI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Built-up area detection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&gt; 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Precision Soil Maps: 21 Properties at 30m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iSDAsoil — Africa's highest-resolution soil dataset, powered by machine learning on thousands of samples.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Nutrients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Nitrogen (g/kg)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Phosphorus (ppm)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Potassium (ppm)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Calcium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Magnesium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Iron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Sulphur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Zinc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Aluminium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Physical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Clay Content (%)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Sand Content (%)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Silt Content (%)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Bulk Density (g/cm3)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Stone Content (%)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Bedrock Depth (cm)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USDA Texture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Chemical Properties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pH (0-14)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Organic Carbon (g/kg)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Total Carbon (g/kg)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Cation Exchange Capacity</a:t>
            </a:r>
          </a:p>
          <a:p>
            <a:pPr>
              <a:spcBef>
                <a:spcPts val="400"/>
              </a:spcBef>
              <a:defRPr sz="1200">
                <a:solidFill>
                  <a:srgbClr val="CCCCCC"/>
                </a:solidFill>
                <a:latin typeface="Calibri"/>
              </a:defRPr>
            </a:pPr>
            <a:r>
              <a:t>Fertility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3E635"/>
                </a:solidFill>
                <a:latin typeface="Calibri"/>
              </a:defRPr>
            </a:pPr>
            <a:r>
              <a:t>Soil pH Interpretation: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2103120" cy="4114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&lt; 4.5  Extremely Acidic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852160"/>
            <a:ext cx="2103120" cy="411480"/>
          </a:xfrm>
          <a:prstGeom prst="rect">
            <a:avLst/>
          </a:prstGeom>
          <a:solidFill>
            <a:srgbClr val="E8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4.5-5.5  Strongly Acidic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852160"/>
            <a:ext cx="2103120" cy="4114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5.5-6.5  Good for Most Crops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5852160"/>
            <a:ext cx="21031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6.5-7.5  Ideal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5852160"/>
            <a:ext cx="2103120" cy="411480"/>
          </a:xfrm>
          <a:prstGeom prst="rect">
            <a:avLst/>
          </a:prstGeom>
          <a:solidFill>
            <a:srgbClr val="E8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5870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7.5+  Alkaline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Crop Yield Forecasting with DSSAT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Combining crop simulation, satellite imagery, and soil data for field-level predictions.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Soil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iSDAsoil 30m</a:t>
            </a:r>
            <a:br/>
            <a:r>
              <a:t>Saxton &amp; Rawls</a:t>
            </a:r>
            <a:br/>
            <a:r>
              <a:t>pedotransfer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Weather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NASA POWER daily</a:t>
            </a:r>
            <a:br/>
            <a:r>
              <a:t>Temperature, rain,</a:t>
            </a:r>
            <a:br/>
            <a:r>
              <a:t>solar radiation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011680"/>
            <a:ext cx="640080" cy="6400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Crop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Rwanda RAB standards</a:t>
            </a:r>
            <a:br/>
            <a:r>
              <a:t>Season A: Sep-Feb</a:t>
            </a:r>
            <a:br/>
            <a:r>
              <a:t>Season B: Feb-Jul</a:t>
            </a:r>
          </a:p>
        </p:txBody>
      </p:sp>
      <p:sp>
        <p:nvSpPr>
          <p:cNvPr id="13" name="Oval 12"/>
          <p:cNvSpPr/>
          <p:nvPr/>
        </p:nvSpPr>
        <p:spPr>
          <a:xfrm>
            <a:off x="7955280" y="2011680"/>
            <a:ext cx="640080" cy="6400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DSSAT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Crop growth model</a:t>
            </a:r>
            <a:br/>
            <a:r>
              <a:t>Baseline yield</a:t>
            </a:r>
            <a:br/>
            <a:r>
              <a:t>estimate (t/ha)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0" y="2011680"/>
            <a:ext cx="640080" cy="640080"/>
          </a:xfrm>
          <a:prstGeom prst="ellipse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Satellite Correction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918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Sentinel-2 NDVI</a:t>
            </a:r>
            <a:br/>
            <a:r>
              <a:t>LAI assimilation</a:t>
            </a:r>
            <a:br/>
            <a:r>
              <a:t>Adjusted forecast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463040" y="2240280"/>
            <a:ext cx="548640" cy="1828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840480" y="2240280"/>
            <a:ext cx="548640" cy="1828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6217920" y="2240280"/>
            <a:ext cx="548640" cy="1828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95360" y="2240280"/>
            <a:ext cx="548640" cy="182880"/>
          </a:xfrm>
          <a:prstGeom prst="rightArrow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Supported Crops (Rwanda)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2011680" cy="36576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Sep-Feb / Feb-Jul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212080"/>
            <a:ext cx="2011680" cy="36576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Sep-Feb / Feb-Jul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5212080"/>
            <a:ext cx="2011680" cy="36576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Sep-Jan / Feb-Jun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212080"/>
            <a:ext cx="2011680" cy="36576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Sorghum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Sep-Feb / Feb-Jul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212080"/>
            <a:ext cx="2011680" cy="365760"/>
          </a:xfrm>
          <a:prstGeom prst="round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Feb-Jul (marshlands)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Rwanda Agriculture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National-level crop monitoring with H3 hexagonal grid analysis across all 30 districts.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H3 Hexagonal NDVI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Rwanda divided into hexagonal cells,</a:t>
            </a:r>
            <a:br/>
            <a:r>
              <a:t>each colored by vegetation health.</a:t>
            </a:r>
            <a:br/>
            <a:r>
              <a:t>Hover for exact NDVI values.</a:t>
            </a:r>
            <a:br/>
            <a:r>
              <a:t>Red = stress, Green = healthy.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3035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District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Agricultural parcels count</a:t>
            </a:r>
            <a:br/>
            <a:r>
              <a:t>Average NDVI with trend arrows</a:t>
            </a:r>
            <a:br/>
            <a:r>
              <a:t>Yield risk level (Low/Med/High)</a:t>
            </a:r>
            <a:br/>
            <a:r>
              <a:t>Confidence score percentage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53035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NDVI Time Series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Area chart showing vegetation</a:t>
            </a:r>
            <a:br/>
            <a:r>
              <a:t>health over time with reference lines:</a:t>
            </a:r>
            <a:br/>
            <a:r>
              <a:t>0.2 = bare soil threshold (red)</a:t>
            </a:r>
            <a:br/>
            <a:r>
              <a:t>0.6 = healthy vegetation (green)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3035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ML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AI-generated actionable suggestions:</a:t>
            </a:r>
            <a:br/>
            <a:r>
              <a:t>'Consider irrigation in high-risk areas'</a:t>
            </a:r>
            <a:br/>
            <a:r>
              <a:t>'Vegetation declining - investigate drought'</a:t>
            </a:r>
            <a:br/>
            <a:r>
              <a:t>Updated from latest satellite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Environmental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3E635"/>
                </a:solidFill>
                <a:latin typeface="Calibri"/>
              </a:defRPr>
            </a:pPr>
            <a:r>
              <a:t>Greenhouse Gas Emissions (EDGAR v8.0)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914400" cy="548640"/>
          </a:xfrm>
          <a:prstGeom prst="roundRect">
            <a:avLst/>
          </a:prstGeom>
          <a:solidFill>
            <a:srgbClr val="C4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Methane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21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Livestock, rice paddies, manure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914400" cy="548640"/>
          </a:xfrm>
          <a:prstGeom prst="roundRect">
            <a:avLst/>
          </a:prstGeom>
          <a:solidFill>
            <a:srgbClr val="C4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N2O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Nitrous 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44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Fertilizer, manure, crop residues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914400" cy="548640"/>
          </a:xfrm>
          <a:prstGeom prst="roundRect">
            <a:avLst/>
          </a:prstGeom>
          <a:solidFill>
            <a:srgbClr val="C4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93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Carbon Dioxide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67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Agricultural soils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914400" cy="548640"/>
          </a:xfrm>
          <a:prstGeom prst="roundRect">
            <a:avLst/>
          </a:prstGeom>
          <a:solidFill>
            <a:srgbClr val="C4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15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Ammonia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90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Fertilizer, manure, burning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A3E635"/>
                </a:solidFill>
                <a:latin typeface="Calibri"/>
              </a:defRPr>
            </a:pPr>
            <a:r>
              <a:t>Land Cover Classification (ESRI 10m)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48640" cy="548640"/>
          </a:xfrm>
          <a:prstGeom prst="rect">
            <a:avLst/>
          </a:prstGeom>
          <a:solidFill>
            <a:srgbClr val="E8D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47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Cropland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21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Active farmland and crop 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651760"/>
            <a:ext cx="548640" cy="548640"/>
          </a:xfrm>
          <a:prstGeom prst="rect">
            <a:avLst/>
          </a:prstGeom>
          <a:solidFill>
            <a:srgbClr val="397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44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Tree canopy &gt; 10m height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solidFill>
            <a:srgbClr val="C4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493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Built Area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67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Urban, roads,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solidFill>
            <a:srgbClr val="A8A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4315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Rangeland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Grasslands and shrublands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20640"/>
            <a:ext cx="548640" cy="548640"/>
          </a:xfrm>
          <a:prstGeom prst="rect">
            <a:avLst/>
          </a:prstGeom>
          <a:solidFill>
            <a:srgbClr val="1A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413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Rivers, lakes, reservoirs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35+ Geoprocessing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CCCCCC"/>
                </a:solidFill>
                <a:latin typeface="Calibri"/>
              </a:defRPr>
            </a:pPr>
            <a:r>
              <a:t>Powered by QGIS Processing — all accessible through Sage or the visual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Vector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Buffer (km)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Dissolve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Fix Geometries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Geometry by Expression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Reproject Layer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Field Calculator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Overlay &amp; Joining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Clip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Intersection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Spatial Join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Merge Layers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Join by Location Summary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Aggregate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57200"/>
          </a:xfrm>
          <a:prstGeom prst="round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Analysis &amp; Grids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Zonal Statistics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Create Grid (hex/rect)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Statistics by Categories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Raster Reproject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DuckDB SQL Queries</a:t>
            </a:r>
          </a:p>
          <a:p>
            <a:pPr>
              <a:spcBef>
                <a:spcPts val="800"/>
              </a:spcBef>
              <a:defRPr sz="1300">
                <a:solidFill>
                  <a:srgbClr val="CCCCCC"/>
                </a:solidFill>
                <a:latin typeface="Calibri"/>
              </a:defRPr>
            </a:pPr>
            <a:r>
              <a:t>PostGIS Direct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A3E635"/>
                </a:solidFill>
                <a:latin typeface="Calibri"/>
              </a:defRPr>
            </a:pPr>
            <a:r>
              <a:t>Example: "Create a 5km buffer around Kigali and calculate cropland percentage"</a:t>
            </a:r>
            <a:br/>
            <a:r>
              <a:t>Sage chains: buffer -&gt; land cover overlay -&gt; zonal statistics -&gt; map visualization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Open Data Sources — No Cost, No Sensors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389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Update Freq.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3898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1124712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Vegetation 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Sentinel-2 via Sentinel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10-20m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Soil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iSDAsoil (ML predictions)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30m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Static (2020)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1124712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Weather / Climate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Copernicus AgERA5 + Open-Meteo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~11km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08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Land 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ESRI 10m Annual LULC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10m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Emissions (GHG)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EDGAR v8.0 (JRC, EU)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~11km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Annual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Crop Yield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DSSAT + Sentinel-2 assimilation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Per-field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On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East Africa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A3E635"/>
                </a:solidFill>
                <a:latin typeface="Calibri"/>
              </a:defRPr>
            </a:pPr>
            <a:r>
              <a:t>Admin Boundaries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Rwanda NISR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CCCCC"/>
                </a:solidFill>
                <a:latin typeface="Calibri"/>
              </a:defRPr>
            </a:pPr>
            <a:r>
              <a:t>Rwanda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A3E635"/>
                </a:solidFill>
                <a:latin typeface="Calibri"/>
              </a:defRPr>
            </a:pPr>
            <a:r>
              <a:t>All data sources are free and open — Ingabe eliminates the need for expensive field sensors.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A3E635"/>
                </a:solidFill>
                <a:latin typeface="Calibri"/>
              </a:defRPr>
            </a:pPr>
            <a:r>
              <a:t>Ingabe by NozaLabs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Empowering African Agriculture</a:t>
            </a:r>
            <a:br/>
            <a:r>
              <a:t>with AI and Satellite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A3E635"/>
                </a:solidFill>
                <a:latin typeface="Calibri"/>
              </a:defRPr>
            </a:pPr>
            <a:r>
              <a:t>gis.nozalabs.rw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CCCCCC"/>
                </a:solidFill>
                <a:latin typeface="Calibri"/>
              </a:defRPr>
            </a:pPr>
            <a:r>
              <a:t>No sensors. No installation. Just a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CCCCC"/>
                </a:solidFill>
                <a:latin typeface="Calibri"/>
              </a:defRPr>
            </a:pPr>
            <a:r>
              <a:t>NozaLabs  |  Kigali, Rwanda  |  app.nozalabs.rw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